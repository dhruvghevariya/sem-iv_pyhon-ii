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Roboto" panose="020B0604020202020204" charset="0"/>
      <p:regular r:id="rId24"/>
      <p:bold r:id="rId25"/>
      <p:italic r:id="rId26"/>
      <p:boldItalic r:id="rId27"/>
    </p:embeddedFont>
    <p:embeddedFont>
      <p:font typeface="Merriweather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54105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466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e25cdedc7_0_1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e25cdedc7_0_1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1987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e25cdedc7_0_1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e25cdedc7_0_1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8272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e25cdedc7_0_1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e25cdedc7_0_1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1738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e25cdedc7_0_1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e25cdedc7_0_1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0099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e25cdedc7_0_1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e25cdedc7_0_1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982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e25cdedc7_0_1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e25cdedc7_0_1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81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e25cdedc7_0_1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e25cdedc7_0_1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606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e25cdedc7_0_1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e25cdedc7_0_1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630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e25cdedc7_0_1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e25cdedc7_0_1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7511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e25cdedc7_0_16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e25cdedc7_0_16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3660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e25cdedc7_0_1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e25cdedc7_0_1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783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e25cdedc7_0_1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e25cdedc7_0_1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1635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e25cdedc7_0_1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e25cdedc7_0_1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59522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e25cdedc7_0_1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e25cdedc7_0_1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7460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e25cdedc7_0_1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e25cdedc7_0_16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0549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a860155617cdc9f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a860155617cdc9f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3002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a860155617cdc9f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a860155617cdc9f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6102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a860155617cdc9f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a860155617cdc9f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4144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a860155617cdc9f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a860155617cdc9f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395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a860155617cdc9f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a860155617cdc9f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586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-2 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6566450" y="4503825"/>
            <a:ext cx="25194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PRITU A PATEL</a:t>
            </a: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T2 - PHASE CONTENT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52225" y="1253250"/>
            <a:ext cx="8780100" cy="3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ntroduction to  Machine Learning &amp; Types of Machine Learning 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vs Regression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 &amp; EDA , Train-validation split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 - Model Training and Evaluation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and Multilinear Regression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Polynomial Regression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- Model Training and Evaluation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KNN(K-Nearest Neighbors) Algorithm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Algorithm using Entropy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Algorithm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 (Support Vector Machine) Algorithm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Deep Learning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Machine Learning?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Machine Learning = Learning from data to make predictions or decisions.</a:t>
            </a:r>
            <a:endParaRPr sz="1800"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Machine learning is a branch of artificial intelligence that enables algorithms to uncover hidden patterns within datasets.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allows them to predict new, similar data without explicit programming for each task. 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Machine learning finds applications in diverse fields such as image and speech recognition, natural language processing, recommendation systems, fraud detection, and automating tasks.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Machine Learning?</a:t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t="10703" b="10077"/>
          <a:stretch/>
        </p:blipFill>
        <p:spPr>
          <a:xfrm>
            <a:off x="201700" y="1400575"/>
            <a:ext cx="8362100" cy="331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Machine Learning</a:t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87" y="1514325"/>
            <a:ext cx="8832276" cy="3186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Involves training models using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labeled 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datasets. Both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input 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 variables 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are provided during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aim is to establish a mapping function that predicts outcomes for new, unseen data.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Common applications include classification, regression, and forecasting.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</a:t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Works with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unlabeled 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where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outputs are not known in advance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model identifies hidden structures, relationships, or groupings in the data.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Useful for clustering, dimensionality reduction, and anomaly detection.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Focuses on discovering inherent patterns within datasets.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Model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Learn from 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their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mistakes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Based on decision-making through interaction with an environment.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 agent performs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actions 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receives rewards 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penalties 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as </a:t>
            </a:r>
            <a:r>
              <a:rPr lang="en" sz="1800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feedback</a:t>
            </a: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goal is to learn an optimal strategy that maximizes long-term rewards.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Widely applied in robotics, autonomous systems, and strategic game playing.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vs Regression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 rotWithShape="1">
          <a:blip r:embed="rId3">
            <a:alphaModFix/>
          </a:blip>
          <a:srcRect t="16234"/>
          <a:stretch/>
        </p:blipFill>
        <p:spPr>
          <a:xfrm>
            <a:off x="417750" y="1389196"/>
            <a:ext cx="7899224" cy="3693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</a:t>
            </a: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Goal: 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Map input data to specific categories or classes.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Target: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Categorical/Discrete (0/1, Yes/No, Red/Blue/Green).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Algorithms: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Logistic Regression, Decision Trees, Random Forests, Support Vector Machines (SVM)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Applications: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Email spam detection, image classification, sentiment analysis.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Metrics: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Accuracy, Precision, Recall, F1-Score.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8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</a:t>
            </a:r>
            <a:endParaRPr/>
          </a:p>
        </p:txBody>
      </p:sp>
      <p:sp>
        <p:nvSpPr>
          <p:cNvPr id="127" name="Google Shape;127;p23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" sz="1800" b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Map input data to a continuous, numeric output by finding the best-fit line or curve.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Target: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continuous(15.5, $2000)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Algorithms: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Linear Regression, Polynomial Regression.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Applications: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Predicting stock prices, forecasting demand, calculating housing values.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Metrics: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Mean Squared Error, Mean Absolute Error, R2 Score.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8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Model</a:t>
            </a:r>
            <a:endParaRPr/>
          </a:p>
        </p:txBody>
      </p:sp>
      <p:sp>
        <p:nvSpPr>
          <p:cNvPr id="133" name="Google Shape;133;p24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8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375" y="1397775"/>
            <a:ext cx="7386900" cy="369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Phase of ML Life Cycle</a:t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181175" y="138377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Problem Definition</a:t>
            </a:r>
            <a:r>
              <a:rPr lang="en" sz="17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Identify business goals, objectives, and success criteria to define what to solve.</a:t>
            </a:r>
            <a:endParaRPr sz="17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Collection:</a:t>
            </a: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Gather relevant data from various sources (databases, APIs, web scraping).</a:t>
            </a:r>
            <a:endParaRPr sz="17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Preparation &amp; Cleaning:</a:t>
            </a: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Clean data to handle missing values, duplicates, and noise. This "data wrangling" makes raw data usable.</a:t>
            </a:r>
            <a:endParaRPr sz="17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Exploration &amp; Feature Engineering: </a:t>
            </a: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Analyze data patterns through visualization and create new features that improve model performance.</a:t>
            </a:r>
            <a:endParaRPr sz="1800" b="1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8000"/>
              </a:lnSpc>
              <a:spcBef>
                <a:spcPts val="2100"/>
              </a:spcBef>
              <a:spcAft>
                <a:spcPts val="1800"/>
              </a:spcAft>
              <a:buNone/>
            </a:pP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Phase of ML Life Cycle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181175" y="138377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Model Development (Training &amp; Tuning): </a:t>
            </a: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Select algorithms, train the model, and tune hyperparameters to achieve the best performance.</a:t>
            </a:r>
            <a:endParaRPr sz="17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Model Evaluation &amp; Testing: </a:t>
            </a: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Validate the model using testing data to ensure it meets success metrics before production.</a:t>
            </a:r>
            <a:endParaRPr sz="17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Deployment &amp; Monitoring:</a:t>
            </a: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Deploy the model into a production environment and continuously monitor it for performance degradation (e.g., data drift).</a:t>
            </a:r>
            <a:endParaRPr sz="17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None/>
            </a:pPr>
            <a:endParaRPr sz="1800" b="1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8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Data &amp; Test Data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311725" y="1592650"/>
            <a:ext cx="3706500" cy="3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Data Size  : 70-80 %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Data Size :  20-30 %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None/>
            </a:pP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8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2275" y="248025"/>
            <a:ext cx="4190425" cy="443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Selection</a:t>
            </a:r>
            <a:endParaRPr/>
          </a:p>
        </p:txBody>
      </p:sp>
      <p:sp>
        <p:nvSpPr>
          <p:cNvPr id="159" name="Google Shape;159;p28"/>
          <p:cNvSpPr txBox="1"/>
          <p:nvPr/>
        </p:nvSpPr>
        <p:spPr>
          <a:xfrm>
            <a:off x="419855" y="156659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just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Feature selection is the process of choosing only the most useful input features for a machine learning model. It helps improve model performance, reduces noise and makes </a:t>
            </a: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easier to understand.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remove irrelevant and redundant features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accuracy and reduces overfitting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Speeds up model training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models simpler and easier to interpre</a:t>
            </a: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7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None/>
            </a:pPr>
            <a:endParaRPr sz="1800" b="1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8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311700" y="486057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 (Data Splitting)</a:t>
            </a:r>
            <a:endParaRPr/>
          </a:p>
        </p:txBody>
      </p:sp>
      <p:sp>
        <p:nvSpPr>
          <p:cNvPr id="165" name="Google Shape;165;p29"/>
          <p:cNvSpPr txBox="1"/>
          <p:nvPr/>
        </p:nvSpPr>
        <p:spPr>
          <a:xfrm>
            <a:off x="419855" y="1365873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just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:1 import Library </a:t>
            </a:r>
            <a:endParaRPr sz="17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○"/>
            </a:pP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from  sklearn.model_selection import train_test_split </a:t>
            </a:r>
            <a:endParaRPr sz="1800" b="1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:2 Load the dataset </a:t>
            </a:r>
            <a:endParaRPr sz="1700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○"/>
            </a:pPr>
            <a:r>
              <a:rPr lang="en" sz="17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df  = pd.read_csv(“filename.csv”)</a:t>
            </a:r>
            <a:endParaRPr sz="1700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:3 Data cleaning &amp; EDA (if needed)</a:t>
            </a:r>
            <a:endParaRPr sz="1700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:4 Feature Selection (Select the particular columns for train - test data)</a:t>
            </a:r>
            <a:endParaRPr sz="1700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○"/>
            </a:pPr>
            <a:r>
              <a:rPr lang="en" sz="17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Getting x and y </a:t>
            </a:r>
            <a:endParaRPr sz="1700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:5 Data Splitting </a:t>
            </a:r>
            <a:endParaRPr sz="1700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○"/>
            </a:pPr>
            <a:r>
              <a:rPr lang="en" sz="17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x_train,x_test,y_train,y_test = train_test_split(x,y,test_size=0.2,random_state=10)</a:t>
            </a:r>
            <a:endParaRPr sz="1700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8000"/>
              </a:lnSpc>
              <a:spcBef>
                <a:spcPts val="2100"/>
              </a:spcBef>
              <a:spcAft>
                <a:spcPts val="1800"/>
              </a:spcAft>
              <a:buNone/>
            </a:pPr>
            <a:endParaRPr sz="18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title"/>
          </p:nvPr>
        </p:nvSpPr>
        <p:spPr>
          <a:xfrm>
            <a:off x="311700" y="486057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 (Components)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0"/>
          <p:cNvSpPr txBox="1"/>
          <p:nvPr/>
        </p:nvSpPr>
        <p:spPr>
          <a:xfrm>
            <a:off x="419855" y="1336137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and y</a:t>
            </a: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These are your original datasets. x typically represents the features (independent variables), while y represents the target (dependent variable).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test_size=0.2</a:t>
            </a: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This parameter determines the proportion of the dataset allocated to the test set. Here, 20% of the data is reserved for testing, while the remaining 80% is used for training the model.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random_state=10: </a:t>
            </a: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acts as a seed for the pseudo-random number generator. Setting it to a specific integer (like 10) ensures reproducibility; you will get the exact same split every time you run the code, which is essential for debugging and comparing different models.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8000"/>
              </a:lnSpc>
              <a:spcBef>
                <a:spcPts val="1800"/>
              </a:spcBef>
              <a:spcAft>
                <a:spcPts val="1800"/>
              </a:spcAft>
              <a:buNone/>
            </a:pPr>
            <a:endParaRPr sz="17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title"/>
          </p:nvPr>
        </p:nvSpPr>
        <p:spPr>
          <a:xfrm>
            <a:off x="311700" y="486057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 ( Components)</a:t>
            </a:r>
            <a:endParaRPr/>
          </a:p>
        </p:txBody>
      </p:sp>
      <p:sp>
        <p:nvSpPr>
          <p:cNvPr id="177" name="Google Shape;177;p31"/>
          <p:cNvSpPr txBox="1"/>
          <p:nvPr/>
        </p:nvSpPr>
        <p:spPr>
          <a:xfrm>
            <a:off x="419855" y="1365873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Values: </a:t>
            </a: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function returns four separate arrays in a specific order: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x_train: </a:t>
            </a: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data used to fit and train the model.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x_test: </a:t>
            </a: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data used to evaluate the model's performance.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y_train: </a:t>
            </a: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values corresponding to x_train.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Times New Roman"/>
              <a:buChar char="●"/>
            </a:pPr>
            <a:r>
              <a:rPr lang="en" sz="1700" b="1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y_test: </a:t>
            </a:r>
            <a:r>
              <a:rPr lang="en" sz="17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 target values used to compare against the model's predictions.</a:t>
            </a:r>
            <a:endParaRPr sz="17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311700" y="486057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Overfitting vs Underfitting</a:t>
            </a:r>
            <a:endParaRPr/>
          </a:p>
        </p:txBody>
      </p:sp>
      <p:pic>
        <p:nvPicPr>
          <p:cNvPr id="183" name="Google Shape;18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634584"/>
            <a:ext cx="7620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>
            <a:spLocks noGrp="1"/>
          </p:cNvSpPr>
          <p:nvPr>
            <p:ph type="title"/>
          </p:nvPr>
        </p:nvSpPr>
        <p:spPr>
          <a:xfrm>
            <a:off x="311700" y="486057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Overfitting vs Underfitting </a:t>
            </a:r>
            <a:endParaRPr/>
          </a:p>
        </p:txBody>
      </p:sp>
      <p:pic>
        <p:nvPicPr>
          <p:cNvPr id="189" name="Google Shape;1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275" y="1474793"/>
            <a:ext cx="6719450" cy="341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Microsoft Office PowerPoint</Application>
  <PresentationFormat>On-screen Show (16:9)</PresentationFormat>
  <Paragraphs>94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Roboto</vt:lpstr>
      <vt:lpstr>Merriweather</vt:lpstr>
      <vt:lpstr>Times New Roman</vt:lpstr>
      <vt:lpstr>Arial</vt:lpstr>
      <vt:lpstr>Paradigm</vt:lpstr>
      <vt:lpstr>PYTHON -2 </vt:lpstr>
      <vt:lpstr>T2 - PHASE CONTENT</vt:lpstr>
      <vt:lpstr>What is Machine Learning?</vt:lpstr>
      <vt:lpstr>What is Machine Learning?</vt:lpstr>
      <vt:lpstr>Types of Machine Learning</vt:lpstr>
      <vt:lpstr>Supervised Learning</vt:lpstr>
      <vt:lpstr>Unsupervised Learning</vt:lpstr>
      <vt:lpstr>Reinforcement Learning</vt:lpstr>
      <vt:lpstr>Classification vs Regression</vt:lpstr>
      <vt:lpstr>Classification</vt:lpstr>
      <vt:lpstr>Regression</vt:lpstr>
      <vt:lpstr>Machine Learning Model</vt:lpstr>
      <vt:lpstr>Key Phase of ML Life Cycle</vt:lpstr>
      <vt:lpstr>Key Phase of ML Life Cycle</vt:lpstr>
      <vt:lpstr>Train Data &amp; Test Data</vt:lpstr>
      <vt:lpstr>Feature Selection</vt:lpstr>
      <vt:lpstr>Model Selection (Data Splitting)</vt:lpstr>
      <vt:lpstr>Model Selection (Components) </vt:lpstr>
      <vt:lpstr>Model Selection ( Components)</vt:lpstr>
      <vt:lpstr>Overfitting vs Underfitting</vt:lpstr>
      <vt:lpstr>Overfitting vs Underfitting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-2 </dc:title>
  <dc:creator>LJENG</dc:creator>
  <cp:lastModifiedBy>LJENG</cp:lastModifiedBy>
  <cp:revision>1</cp:revision>
  <dcterms:modified xsi:type="dcterms:W3CDTF">2026-04-11T04:04:06Z</dcterms:modified>
</cp:coreProperties>
</file>